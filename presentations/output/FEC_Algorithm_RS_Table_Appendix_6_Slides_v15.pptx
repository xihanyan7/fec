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acc5371ab4444" /><Relationship Type="http://schemas.openxmlformats.org/officeDocument/2006/relationships/extended-properties" Target="/docProps/app.xml" Id="Rf8421f5e12e74f52" /><Relationship Type="http://schemas.openxmlformats.org/officeDocument/2006/relationships/officeDocument" Target="/ppt/presentation.xml" Id="Redebd2eed91f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f846ce82a47ea"/>
  </p:sldMasterIdLst>
  <p:notesMasterIdLst>
    <p:notesMasterId xmlns:r="http://schemas.openxmlformats.org/officeDocument/2006/relationships" r:id="R282a10e591f54fd6"/>
  </p:notesMasterIdLst>
  <p:sldIdLst>
    <p:sldId xmlns:r="http://schemas.openxmlformats.org/officeDocument/2006/relationships" id="256" r:id="R74a352800a3840b2"/>
    <p:sldId xmlns:r="http://schemas.openxmlformats.org/officeDocument/2006/relationships" id="257" r:id="R0a1a39d21e4245f2"/>
    <p:sldId xmlns:r="http://schemas.openxmlformats.org/officeDocument/2006/relationships" id="258" r:id="R635d233ce4514e73"/>
    <p:sldId xmlns:r="http://schemas.openxmlformats.org/officeDocument/2006/relationships" id="259" r:id="Rde51d5b0eafd421c"/>
    <p:sldId xmlns:r="http://schemas.openxmlformats.org/officeDocument/2006/relationships" id="260" r:id="Rec9a52c2c1134687"/>
    <p:sldId xmlns:r="http://schemas.openxmlformats.org/officeDocument/2006/relationships" id="261" r:id="R41908b26c38541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6e97dd4444a5d" /><Relationship Type="http://schemas.openxmlformats.org/officeDocument/2006/relationships/slideMaster" Target="/ppt/slideMasters/slideMaster1.xml" Id="R179f846ce82a47ea" /><Relationship Type="http://schemas.openxmlformats.org/officeDocument/2006/relationships/notesMaster" Target="/ppt/notesMasters/notesMaster1.xml" Id="R282a10e591f54fd6" /><Relationship Type="http://schemas.openxmlformats.org/officeDocument/2006/relationships/presProps" Target="/ppt/presProps.xml" Id="Rfcc7cfc6dc1d4cd3" /><Relationship Type="http://schemas.openxmlformats.org/officeDocument/2006/relationships/tableStyles" Target="/ppt/tableStyles.xml" Id="Re25a40a86e6d4287" /><Relationship Type="http://schemas.openxmlformats.org/officeDocument/2006/relationships/slide" Target="/ppt/slides/slide1.xml" Id="R74a352800a3840b2" /><Relationship Type="http://schemas.openxmlformats.org/officeDocument/2006/relationships/slide" Target="/ppt/slides/slide2.xml" Id="R0a1a39d21e4245f2" /><Relationship Type="http://schemas.openxmlformats.org/officeDocument/2006/relationships/slide" Target="/ppt/slides/slide3.xml" Id="R635d233ce4514e73" /><Relationship Type="http://schemas.openxmlformats.org/officeDocument/2006/relationships/slide" Target="/ppt/slides/slide4.xml" Id="Rde51d5b0eafd421c" /><Relationship Type="http://schemas.openxmlformats.org/officeDocument/2006/relationships/slide" Target="/ppt/slides/slide5.xml" Id="Rec9a52c2c1134687" /><Relationship Type="http://schemas.openxmlformats.org/officeDocument/2006/relationships/slide" Target="/ppt/slides/slide6.xml" Id="R41908b26c38541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64fafe652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441df491c4d95" /><Relationship Type="http://schemas.openxmlformats.org/officeDocument/2006/relationships/notesMaster" Target="/ppt/notesMasters/notesMaster1.xml" Id="R58242aa2a10148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48b420f414ff6" /><Relationship Type="http://schemas.openxmlformats.org/officeDocument/2006/relationships/notesMaster" Target="/ppt/notesMasters/notesMaster1.xml" Id="R78dc8cb953e447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95873ab3054939" /><Relationship Type="http://schemas.openxmlformats.org/officeDocument/2006/relationships/notesMaster" Target="/ppt/notesMasters/notesMaster1.xml" Id="Reee54906309c4e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35d6c46b84b61" /><Relationship Type="http://schemas.openxmlformats.org/officeDocument/2006/relationships/notesMaster" Target="/ppt/notesMasters/notesMaster1.xml" Id="R29c13a1e18f2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87d95a0e3247e3" /><Relationship Type="http://schemas.openxmlformats.org/officeDocument/2006/relationships/notesMaster" Target="/ppt/notesMasters/notesMaster1.xml" Id="R435e97545733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2bee578594bb1" /><Relationship Type="http://schemas.openxmlformats.org/officeDocument/2006/relationships/notesMaster" Target="/ppt/notesMasters/notesMaster1.xml" Id="R1a54132e57fc47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de/src/internal/xor_codec.cpp、fec_encoder.cpp、fec_decoder.cpp、fec_symbol.cpp、fec_controller.cpp、fec_frame.cpp、fec_profile.cpp。左侧普通XOR_DX，X可配置1至32。右侧D4/L4映射表示逻辑分组而非额外物理发送重排。连续源擦除不超过L时，单块内各列至多一个缺失，恢复要求对应repair可用且无其他同列缺失。冗余比例均为repair数量/source数量，字节冗余另受变长包、符号容量和36字节外层开销影响。均匀到包假设下，交织最长组满等待约(DL-1)Δt，忽略传输时间。创建时配置max_packet_size。控制器由调用方回传指标和应用建议，增强仍受保持时间限制，稳定多个窗口才降低保护，在块边界切换。当前控制器不自动选择XOR_D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de/src/internal/reed_solomon_codec.cpp的configure、encode_repair、prepare_recovery、recover_source。采用列向量记法，G为n×k矩阵，行对应输出编码帧、列对应输入源包，y=Gx。源码构造转置方向的范德蒙矩阵，转置后为V[r,c]=alpha^(r*c)，评价点t_r=alpha^r、alpha=0x02，r从0到n-1，c从0到k-1。V0为V前k行组成的k×k方阵，G=V V0^-1，前k行为单位矩阵，系统型源包不改数据。评价点互异保证任意k行可逆，系统化保持该性质。范德蒙图为示意图，省略号包含到k-1次幂的列，末行t_r代表最后一个评价点。本页索引从0起。例RS(8,6)丢s1、s4，收到s0,s2,s3,s5,p0,p1，选行0,2,3,5,6,7，保留全部6个源列，A=G[所选行,:]为6×6，x=A^-1y_selected，recover_source仅计算缺失source_index对应的逆矩阵行并输出缺失源符号。不能把丢失发送帧所在行误当作需要选的行。等价缩减解释：先从repair数据异或消去已知源包贡献，再取修复行6,7和缺失源列1,4，形成2×2矩阵；该方法不是当前代码实现。生成器用同一GF(256)运算核验完整6×6与缩减2×2均恢复出相同输入。GF(256)加减XOR，乘法及非零逆元查表。现有profile为RS(8,6)、RS(10,8)，均最多承受2帧擦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GF(256)中的系统型RS(4,2)教学例子，不是当前代码的可配置profile。当前实现仅提供RS(8,6)、RS(10,8)。计算规则参考code/src/internal/reed_solomon_codec.cpp的multiply、invert_matrix、encode_repair、prepare_recovery、recover_source。教学生成矩阵选评价点0、1、2、3，V=[[1,0],[1,1],[1,2],[1,3]]，前2行V0=[[1,0],[1,1]]，V0^-1=V0。系统化G=V*V0^-1=[[1,0],[0,1],[3,2],[2,3]]。与源码评价点选择不同，但同样采用Vandermonde并系统化，脚本验证G任意2行都可逆。输入字节a=0x05、b=0x09，输出a=05、b=09、p=1D、q=11。假设前2帧丢失，只收到p、q，A=G后2行=[[03,02],[02,03]]，A*A=I，故该例A^-1=A，不能推广到一般RS恢复矩阵。全部域乘法和矩阵计算在生成器中程序校验。03*05=0F、02*09=12，p=1D；02*05=0A、03*09=1B，q=11；03*1D=27、02*11=22，恢复a=05；02*1D=3A、03*11=33，恢复b=09。相同系数对保护符号每个字节位置独立计算，恢复后再提取原始长度与检查CRC。本页的单字节只是包内一个位置，并非完整网络帧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de/src/internal/reed_solomon_codec.cpp的GfTables、multiply、inverse、invert_matrix。gf_exp和gf_log是PPT中的说明名，分别对应源码exponent和logarithm数组，没有重命名或修改源代码。两者不是数学库exp()或log()函数。固定有限域元素alpha=0x02，在以0x11D约简的GF(256)内，alpha是本原元素，其幂遍历255个非零字节。gf_exp[i]=alpha^i按有限域乘法计算，i为十进制指数0到254；gf_log[v]返回满足alpha^i=v的指数，是以alpha为底的有限域离散对数。示例gf_exp[8]=0x1D、gf_log[0x1D]=8，不能按照普通整数2^8=256理解。构表从v=1开始，写gf_exp[i]=v和gf_log[v]=i，再左移一位，若第9位置位则异或0x11D，独立构造查表，不调用浮点log。exp0..8为01、02、04、08、10、20、40、80、1D，80左移得100，100 XOR11D=1D。实际矩阵求逆仍用高斯-约旦消元，主元归一的除法通过乘其非零逆元实现，其他行消元需要域乘法和XOR。表仅计算标量字节的乘法、逆元，不对矩阵取对数。零没有乘法逆元或离散对数，含零乘法返回零，不能查询gf_log[0]作为数学运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de/src/internal/reed_solomon_codec.cpp的GfTables、multiply、inverse、invert_matrix、configure、recover_source。有限域GF(256)的本原元素α=0x02，多项式0x11D。exp[512]和log[256]以uint8_t存储共768字节，程序初始化时构建；exp按255重复，乘法非零指数和最大508可直接索引。主元03逆元为exp[255-log[03]]=exp[230]=F4。右侧2×2矩阵是教学示例，不是当前RS配置的实际恢复矩阵。所有矩阵元素用十六进制，移位索引、log和exp索引为十进制。A=[[01,01],[01,02]]，A^-1=[[F5,F4],[F4,F4]]；脚本按实际GF运算验证A*A^-1=I。实际RS使用同样消元过程求6×6或8×8逆矩阵，成本O(k^3)，m源符号逐字节恢复O(mkB)。系统型生成矩阵G=V V0^-1，任意k行独立；恢复使用收到k帧对应的A。表值和图中文字均为可编辑原生PPT元素。测试覆盖73种RS双擦除组合。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依据：code/src/internal/reed_solomon_codec.cpp的GfTables、全局const GfTables kGfTables、multiply与inverse。源码用固定多项式0x11D及alpha=0x02构造指数表exponent[512]和离散对数反查表logarithm[256]，共768字节。每次程序初始化仅构造一次，发包、恢复和矩阵消元过程中查询共享表，不按包或矩阵重建。固定参数及字节表示下表确定，也可以离线生成常量数组用于固件，但当前源码尚未改为常量数组。gf_exp/gf_log是说明名。附录幂表列出索引00至FF，共256项，其中FF对应十进制255，其值01与00处相同。幂表数学周期为255，完整512项由周期延伸。反查表列出256个字节索引，00处显示--表示离散对数不存在，实际源码因值初始化该位置存00，仅作为无效占位，乘法零分支不读取它。行标签为高4位基址，列标签为低4位，索引为二者相加。示例log[03]=19(十进制25)，log[1D]=08，指数和19+08=21(十进制33)，exp[21]=27。生成器逐项验证255个非零值互异及正反向映射，另核验指数表全部512项满足周期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fbef1e85241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4b869365e54d72" /><Relationship Type="http://schemas.openxmlformats.org/officeDocument/2006/relationships/slideLayout" Target="/ppt/slideLayouts/slideLayout1.xml" Id="R2d57af1e91b2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7af1e91b2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af71f1f445e0" /><Relationship Type="http://schemas.openxmlformats.org/officeDocument/2006/relationships/notesSlide" Target="/ppt/notesSlides/notesSlide1.xml" Id="R338e586f18d54e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f29396c084744" /><Relationship Type="http://schemas.openxmlformats.org/officeDocument/2006/relationships/notesSlide" Target="/ppt/notesSlides/notesSlide2.xml" Id="Rae2dbb2a2b44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b89ca6d4e48aa" /><Relationship Type="http://schemas.openxmlformats.org/officeDocument/2006/relationships/notesSlide" Target="/ppt/notesSlides/notesSlide3.xml" Id="R5b205bda833f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3853c23bf4fb7" /><Relationship Type="http://schemas.openxmlformats.org/officeDocument/2006/relationships/notesSlide" Target="/ppt/notesSlides/notesSlide4.xml" Id="R9cf7f70c0a934d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b0ca7a4eb4ddd" /><Relationship Type="http://schemas.openxmlformats.org/officeDocument/2006/relationships/notesSlide" Target="/ppt/notesSlides/notesSlide5.xml" Id="R5b3327dc9a62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c6d6e41e49ca" /><Relationship Type="http://schemas.openxmlformats.org/officeDocument/2006/relationships/notesSlide" Target="/ppt/notesSlides/notesSlide6.xml" Id="Rf40300e2d6d448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1F374-C630-4212-A296-7A72A84E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XOR 与 XOR＋交织：校验分组与恢复能力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0BA07-F72D-485A-96BD-7BAB143D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两种算法都逐字节异或，区别在于源符号如何分组以及每个保护块包含多少条校验方程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F7406-20CC-45CD-8B9E-F499F99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9A7A7-1A32-4C53-9A53-0256EDAF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普通 XOR_DX：X 个源包共享 1 个校验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12AA7-7CE3-4FA9-B8AE-BC5F2D2C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25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p = s₀ ⊕ s₁ ⊕ … ⊕ s₍X−1₎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96FEF-93B8-46E1-9FF2-EDE89174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sⱼ = p ⊕ (⊕ᵢ≠ⱼ sᵢ)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80EDB-DB39-438F-9F16-A8A5906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525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利用a⊕a=0，抵消已知源符号。</a:t>
            </a:r>
          </a:p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X=4时，缺s₂：s₂=p⊕s₀⊕s₁⊕s₃。</a:t>
            </a:r>
          </a:p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同组只缺一个源包且repair可用时恢复。</a:t>
            </a:r>
          </a:p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同组缺两个源包，一个方程无法唯一求解。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33400" y="4314825"/>
          <a:ext xmlns:a="http://schemas.openxmlformats.org/drawingml/2006/main" cx="5257800" cy="68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  <a:gridCol w="1051560"/>
              </a:tblGrid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源包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s₀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s₂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s₃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128C1-9517-4A28-9ED7-A03BE33E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5257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X∈[1,32]，ρ包数=1/X。X=4时发送4＋1帧。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源帧包含原始RTP，不再重复发送一套原始包。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块累加／恢复O(XB)，无需有限域乘法或求逆。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FCCC1-FB67-430A-8820-93C17EB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2877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XOR＋交织：D 行、L 列按列校验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248400" y="2095500"/>
          <a:ext xmlns:a="http://schemas.openxmlformats.org/drawingml/2006/main" cx="54102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352550"/>
                <a:gridCol w="1352550"/>
                <a:gridCol w="1352550"/>
              </a:tblGrid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列0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列1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列2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列3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9F39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s₀ 缺失</a:t>
                      </a:r>
                    </a:p>
                  </a:txBody>
                  <a:tcPr marL="91440" marR="91440" marT="45720" marB="45720" anchor="ctr">
                    <a:solidFill>
                      <a:srgbClr val="F8ECEB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9F39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 缺失</a:t>
                      </a:r>
                    </a:p>
                  </a:txBody>
                  <a:tcPr marL="91440" marR="91440" marT="45720" marB="45720" anchor="ctr">
                    <a:solidFill>
                      <a:srgbClr val="F8ECEB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9F39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s₂ 缺失</a:t>
                      </a:r>
                    </a:p>
                  </a:txBody>
                  <a:tcPr marL="91440" marR="91440" marT="45720" marB="45720" anchor="ctr">
                    <a:solidFill>
                      <a:srgbClr val="F8ECEB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9F39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s₃ 缺失</a:t>
                      </a:r>
                    </a:p>
                  </a:txBody>
                  <a:tcPr marL="91440" marR="91440" marT="45720" marB="45720" anchor="ctr">
                    <a:solidFill>
                      <a:srgbClr val="F8ECEB"/>
                    </a:solidFill>
                  </a:tcPr>
                </a:tc>
              </a:tr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s₁₅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DF3F7-7C2F-4869-9DC2-DF7CB406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p₀ = s₀ ⊕ s₄ ⊕ s₈ ⊕ s₁₂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E8D16-0B2E-4BB6-9413-7F63C44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5410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实现：c=i mod L，acc[c]⊕=sᵢ。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图中连续缺4源包，4列各缺1项，分别恢复。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同列缺s₀和s₄仍无法恢复，需对应repair有效。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K=DL，repair数=L，ρ包数=1/D。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D4/L4为16＋4帧，D4/L8为32＋8帧。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E3D88-CBDA-49E0-8097-6925DE2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共用实现：长度2 B＋CRC32 4 B＋原包＋逻辑补零至B。SOURCE按实际长度发送，恢复后截取并校验。</a:t>
            </a:r>
          </a:p>
          <a:p xmlns:a="http://schemas.openxmlformats.org/drawingml/2006/main">
            <a:pPr>
              <a:def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性能与调参：热路径无堆分配。减小D提高冗余，增大L分散突发但增加等待，残余丢包可建议RS。</a:t>
            </a:r>
          </a:p>
          <a:p xmlns:a="http://schemas.openxmlformats.org/drawingml/2006/main">
            <a:pPr>
              <a:def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多设备按最差链路提供建议，由调用方应用。保持时间及稳定窗口限制切换，块边界切换profile。</a:t>
            </a:r>
          </a:p>
        </p:txBody>
      </p:sp>
    </p:spTree>
    <p:extLst>
      <p:ext uri="{BB962C8B-B14F-4D97-AF65-F5344CB8AC3E}">
        <p14:creationId xmlns:p14="http://schemas.microsoft.com/office/powerpoint/2010/main" val="1138358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C9C64F-CD32-4A6F-816E-AA44F319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RS 原理总览：矩阵构造与丢包后的方程选择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5E7C0-05D5-4DED-9A35-1B54C84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RS(n,k)用k个源帧生成n帧，任意k帧有效即可恢复。本页概括构造与选取规则，下一页演算完整例子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26A9E-EFC3-473D-AD1A-A362FC4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5825-159A-4FBD-817E-B36E9CB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1  范德蒙构造与系统型编码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D46F8-D5E9-485F-BED2-BA905886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设k为源帧数、n为总帧数，选n个互异评价点t。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V的每行依次为同一个t的0～k−1次幂。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B8B80-238A-45B1-8909-B7F62EE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V 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F5CF7-53D5-4346-ADBD-67691F4B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150A6-3CD1-431B-ABD2-031100A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27813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54E28-E037-4407-A997-458A830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813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t₀²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52095-BB7E-4948-A73D-9CFE5FA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27813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649A3-61EF-4D4B-9160-4D8E701A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2FD34-35D5-4B52-A28B-083E3780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0861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FF9EE-A93B-4223-B805-A61278E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861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t₁²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BE9F6-29FB-45FA-A02D-568E1BB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0861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82F4E-87DB-4B8D-B12A-DDA8C2D4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997EF-10C5-4C2F-99BE-02BA5A1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3909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CA006-846E-4213-BE02-5F7AE0FB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909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1167E-CE93-4153-B190-DA262BF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3909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1F427-8D57-4A85-B619-3048E5C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28318-44E5-498A-A686-883E39D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6957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FC380-1C18-4078-9820-150C85E3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tᵣ²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3C81F-3DC3-4534-B0CF-98E58847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113" y="3695700"/>
            <a:ext cx="10239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F0448-61C3-4871-AC3A-6D389329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AD724-B34E-4E32-BFB1-E19883E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D1C57-4833-46C7-BAAA-C883C2BE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CDF46-52EC-4A43-A89B-6D68B0A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EACE6-7DE4-44DF-9F50-095E9689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3116C-4062-4506-B685-245EB6F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72A10-1733-4905-8CA8-2E96856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5410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V₀：取V前k行，形成可逆的k×k方阵。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源码评价点tᵣ=αʳ，α=0x02，r为发送帧索引。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28A13-B09F-40E7-834B-E1D609A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G = V × V₀⁻¹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644499-F00E-4D97-9F45-DF9C775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77748-64B3-496C-9197-1CCAA635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Iₖ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46445-A3F5-4B2B-AE6F-EB51564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244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C7D54E-8A6B-490F-9817-04A1E26B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FE5C58-8C8A-4DC0-BE2D-61CE61ED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B10F4B-3612-4878-A9A5-D133950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86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15F2C-2579-4B68-885A-4E68DB37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521025-1F07-40B0-905D-71E1E881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F1C015-3EAF-4402-8DD2-77C82516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864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71BD7D-BB42-4221-80E3-7E9BE65E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541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x为原始源值、y为发送值，编码为y=Gx。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前k行Iₖ保留源包，后n−k行为修复系数P。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评价点互异，使G任意k行组成的方阵可逆。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1009AC-2D4C-463C-A2B4-17441ABD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2  丢包后取行、保留源列并求逆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13BFD-C682-4F1E-932F-7BD0D84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G的行对应发送帧，列对应原始源包。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例：RS(8,6)丢s₁、s₄，索引均从0开始。</a:t>
            </a:r>
          </a:p>
        </p:txBody>
      </p:sp>
      <p:graphicFrame>
        <p:nvGraphicFramePr>
          <p:cNvPr id="90" name=""/>
          <p:cNvGraphicFramePr/>
          <p:nvPr/>
        </p:nvGraphicFramePr>
        <p:xfrm>
          <a:off xmlns:a="http://schemas.openxmlformats.org/drawingml/2006/main" x="6400800" y="2781300"/>
          <a:ext xmlns:a="http://schemas.openxmlformats.org/drawingml/2006/main" cx="5257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3154680"/>
              </a:tblGrid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选取对象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本例选择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收到的帧（行）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s₀, s₂, s₃, s₅, p₀, p₁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对应行索引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0, 2, 3, 5, 6, 7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当前代码取列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全部6列：s₀～s₅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缺失源包的列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1、4（恢复目标）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B400CD-DD10-405A-B085-95ED7CF1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525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 = G[所选6行, 全部6列]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E849A0-DE9D-4B44-9148-5FEFA44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525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x = A⁻¹ × 收到的6个值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478F9-A7AB-491D-9D59-3344B10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525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A为6×6方阵，列顺序保持原始源包顺序。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求逆后，仅计算并输出丢失的s₁、s₄。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4E72AC-1600-4BE6-8684-6915DAD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取列补充：消去已知源包对修复包的贡献后，可只取修复行{6,7}、缺失列{1,4}，解2×2方程。</a:t>
            </a:r>
          </a:p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这是等价解释，当前代码仍取完整6×6矩阵。表名解释与构表见第4页，查询与消元示例见第5页。</a:t>
            </a:r>
          </a:p>
        </p:txBody>
      </p:sp>
    </p:spTree>
    <p:extLst>
      <p:ext uri="{BB962C8B-B14F-4D97-AF65-F5344CB8AC3E}">
        <p14:creationId xmlns:p14="http://schemas.microsoft.com/office/powerpoint/2010/main" val="1374447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ED45A6-AC75-4856-904A-E94D2FBF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RS 小例子：完整矩阵与两帧丢失还原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D0A9E-2887-4D92-9A35-7E1BB71D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RS(4,2)教学例子。所有数值为十六进制，⊕表示XOR，·表示GF(256)乘法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8E031-0876-4716-B88C-CC5792D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E240A-723A-4CF5-8FB0-F9295BF9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1  编码：完整生成矩阵与发送结果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EE0C-B597-4427-A98C-4704DAD6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a=05、b=09，生成2个源数据＋2个修复数据。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64D18-FBBB-42C4-9B00-039234A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发送值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12EE1-BB10-4F4C-8031-00E664D8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生成矩阵 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80124-3FF8-4B11-9CFD-5AAE871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原始值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A03BF-4C70-4A20-85A7-C846C20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F0499-2736-4C62-86F3-4B2E6F28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B82D2-EABE-488A-99EF-04BB5FCF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99C81-1AB9-4090-AF97-69A2B3CD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18AB4-9ABB-4D38-875A-5A273A7F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2E332-BB7D-4FA7-8A36-33212E55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7FE5B-BD31-4E54-A0E9-66450DBD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E4E75-9E3E-4E6E-9B25-76A6845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32CE8-7ACE-4088-895B-8202209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3D45B-D4CB-4FCD-A4D9-CE77D78D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FA42B-1C5D-4651-BA78-CC04A2E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0A874-DA10-4220-B8C9-9FD23EAC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D05E8-A4FE-4773-995D-53A8906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57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77BBB-1AB9-4EFE-B186-7C921AB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CB305-B0EF-4EF9-B27F-83C79B4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D5291-8B98-42B4-875A-A7BEEA6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BDC8F-B8A0-41AE-A104-71D97741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95C24-3C44-40B3-BD9D-FE2C120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2133C-81D0-4B0F-8F35-A6F732EA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194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70052-411A-401E-B88D-6BECCD7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EF63F-0C6E-4FC5-B587-0CB7FA1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59422-9E7D-44B1-91C2-3FE39424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433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741C1-9F52-4D53-95A1-79C1F31E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362FB-902A-4484-9ACD-0FFDDA2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2AAA1-A231-4FD5-8AED-B7218F8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CEEC0-016B-4A0F-A823-5BDD5D8A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05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B7F63E-ACEF-4A92-9FC3-2644E4BC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0" cy="144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72CFD-2120-4E6B-AD1E-130BA382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576956-5F08-4DE8-A50E-E1B9733B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E59C83-BB05-4129-992D-4B2C208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861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4E42B-58F6-49F9-8378-57F1DE2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194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15F416-7E95-443C-BDEC-47FBC21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814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373768-1ADE-45CE-B6D8-A48CE43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194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F80C2D-91FC-4833-89EE-FE6D34E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194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6B2F7A-285E-4CFB-BBA7-9A21B85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43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C6CD46-3F76-4145-982A-846BCBE7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194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92F85C-8905-40F7-B472-A1AAD0E9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194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2BB13-C307-411D-A5E9-4A380B5D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43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C6CF49-27C2-41C3-9245-26FAA23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410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p = 03·05 ⊕ 02·09 = 0F ⊕ 12 = 1D</a:t>
            </a:r>
          </a:p>
          <a:p xmlns:a="http://schemas.openxmlformats.org/drawingml/2006/main">
            <a:pPr>
              <a:def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q = 02·05 ⊕ 03·09 = 0A ⊕ 1B = 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711653-D77B-41A9-91F2-8AC9632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5410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这里计算包内一个字节，其他位置逐字节重复。</a:t>
            </a:r>
          </a:p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前两行是单位矩阵，因此源数据保持原样。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7250FE-98A6-42FC-A9D5-9528C64B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2877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2  丢包：a、b丢失，仅收到p、q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33045A-251D-4F50-B281-1C5256D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525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取G中p、q对应的两行，得到解码矩阵A。</a:t>
            </a:r>
          </a:p>
          <a:p xmlns:a="http://schemas.openxmlformats.org/drawingml/2006/main">
            <a:pPr>
              <a:def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收到值为p=1D、q=11，原始a、b未知。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F5447E-8D50-47F5-8BC4-2AA980D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 =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4B33D3-BB9A-43E1-BC61-93917F3B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003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010E6F-6C63-467D-84D4-9A2F07A9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003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5AC3C8-4BC7-4DF5-A4BF-0830C717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FF9DE9-605B-4666-9EA9-EE5A670E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623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FE4328-303D-4AF8-A994-2FE5B9A3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389FE0-3DB6-4B79-8D54-1FCBD2F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3FE951-49BF-42D7-B1CC-07E85FE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074FF5-9DFB-41F6-8A24-97BDF85E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6FA284-3FFF-4AD3-994E-DF5DE8D3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8E42E8-8C8E-4A8E-BDC3-AC3BA00E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A7E858-AADF-44BF-98FD-90E29799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00375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A⁻¹ =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BF80E1-904B-4145-A0DD-34811E3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03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E2BDC5-A892-444A-A4CA-EE7C543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003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48987D-74AD-43FD-B60B-C8FD795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623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1748AD-667F-452A-9553-C259AA7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623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334EB6-8033-46DC-8727-E4C12ED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55D9E3-CA61-4CF7-BBDF-C9B0A0E4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5E6038-239B-4F22-8672-CC083EBA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DC757E-0614-4EAF-A1CD-4CB56A0B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8003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88923B-38E8-4E45-A923-D1EC06F9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003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4B4F85-916E-475E-A410-A37CA38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3DEA72-7D2B-4A70-8C43-FBE9E8B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本例A·A=I，所以A⁻¹=A，仅此例恰好相同。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A22D35-18CE-40F2-83FA-CE87E87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3  还原：原始值＝逆矩阵×收到值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A5C869-24EF-46E4-8A9A-43EF867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2BC7C5-96F7-40EB-BDBB-2D182E1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18573E-3DF6-4C28-AD3C-37A1CAE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A1649-6703-4FB4-809D-C5D58B7D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AED09E-C3D7-4FB5-9A44-C1C92E9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2317E1-2DB2-45EE-9FE9-EB61A38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E96337-86AD-4CF1-804F-45273B5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3149CF-CB2C-434F-85E0-D290D9B1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9A4C00-A760-4A6B-98DC-0BADB8D5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1F2F035-B4A0-4C71-92B0-C387AAE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862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57CDEA-90AE-4C86-B346-1FE4B90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020A8E5-FD88-48C4-BE86-236D704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482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4E7250-F3B9-4240-82B8-87D7B56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482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0ABBFF-635A-43C4-88E0-BFE02BC9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D3ECCCA-DCFA-45D3-AE84-3367EE18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BDCAD98-DA30-4B05-9758-E33A143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0E2EA1-AC02-4868-8C21-AF7482A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007062-FF49-4496-8409-37DFF2A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497763-AC57-42B4-9EB3-56C7DA6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71457B-4A51-45A8-956D-2D779C37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35AF28-8DBB-4FBA-92F2-2C9E5EE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862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70853A-E7B2-4124-9718-B45A35B7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482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450257-1BF5-4AAC-B82B-AB8909F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7BDBE4-972B-42A2-BC74-54D083E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094B3F-4E93-4438-A0B4-FB4C2E58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467B5C-5893-4068-AD55-20BDA7EA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7F5706-2B18-4C05-8F89-7119A1D4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60B94A-618A-44FB-BA17-B70EEDA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A337C6-C9DA-4DAD-AE6E-DA57D3D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482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30D6BE-15B9-4CCB-8AB1-771269E7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862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2D5BD5-6453-440E-8D2D-42793B2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8482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ECB862B-C4F9-49B1-9535-ED3EA9A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54AF0F1-2F79-4731-8643-A2F34CC5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88DBD7-8B66-452E-9375-B9C1FC1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631EC55-5109-44B0-B03F-8BDB091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486275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23D206-47F4-4033-9955-D7B6A0C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4862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B0217F5-B2C1-428D-AD7A-47ED8DBA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2101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6F85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1643DD-DD85-47AA-838C-082D8ACC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53050"/>
            <a:ext cx="5257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 = 03·1D ⊕ 02·11 = 27 ⊕ 22 = 05</a:t>
            </a:r>
          </a:p>
          <a:p xmlns:a="http://schemas.openxmlformats.org/drawingml/2006/main">
            <a:pPr>
              <a:def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b = 02·1D ⊕ 03·11 = 3A ⊕ 33 = 09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28CBF7-F9D9-43C3-9E29-2BD288C8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求逆验证：对角元素03·03⊕02·02=05⊕04=01，非对角元素03·02⊕02·03=06⊕06=00。</a:t>
            </a:r>
          </a:p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所以A·A的对角线为01、其余为00，即单位矩阵I。本例计算恢复出05、09，与原始输入一致。</a:t>
            </a:r>
          </a:p>
        </p:txBody>
      </p:sp>
    </p:spTree>
    <p:extLst>
      <p:ext uri="{BB962C8B-B14F-4D97-AF65-F5344CB8AC3E}">
        <p14:creationId xmlns:p14="http://schemas.microsoft.com/office/powerpoint/2010/main" val="176514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7C7E-D2CF-41EA-B08B-0B7F48B8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GF(256)查表：名称含义、构表与矩阵求逆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E70B3-182B-4A4A-A451-4B09AA53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本页使用gf_exp、gf_log表名：不表示eˣ，也不表示以10为底的普通对数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6A9EE-63DE-492F-938B-5D630D39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1415A-DC80-4CBD-8BE2-0013AA6F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28775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1  两张查找表的名称与读法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33400" y="2076450"/>
          <a:ext xmlns:a="http://schemas.openxmlformats.org/drawingml/2006/main" cx="111252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6292"/>
                <a:gridCol w="5896356"/>
                <a:gridCol w="2892552"/>
              </a:tblGrid>
              <a:tr h="3810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表名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在本项目中的含义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一组正向／反向查询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810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gf_exp[i]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α在GF(256)中的i次幂，结果是一个字节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gf_exp[8] = 0x1D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gf_log[v]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以α为底的离散对数，反查αⁱ=v的指数i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gf_log[0x1D] = 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0313C-379A-4AAE-B8BB-146544E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α=0x02，是GF(256)的本原元素，其幂能遍历255个非零字节。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αⁱ按有限域乘法计算。例如α⁸=0x1D，而普通整数2⁸=256，二者的乘法规则不同。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8E19E-AADF-4FCE-91DC-55DFDC5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2  构表：从01开始，依次在域内乘02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94C8-BDB6-4123-B8BB-2B257B46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5410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从v=01出发，反复在域中乘02。</a:t>
            </a:r>
          </a:p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记录gf_exp[i]=v，反向写gf_log[v]=i。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5076825"/>
          <a:ext xmlns:a="http://schemas.openxmlformats.org/drawingml/2006/main" cx="5410200" cy="64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8296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  <a:gridCol w="520212"/>
              </a:tblGrid>
              <a:tr h="32385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2385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9F4F5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</a:t>
                      </a:r>
                    </a:p>
                  </a:txBody>
                  <a:tcPr marL="91440" marR="91440" marT="45720" marB="45720" anchor="ctr">
                    <a:solidFill>
                      <a:srgbClr val="E9F4F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38C33-79FB-41D2-B93F-1B9A60C7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541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生成下一值：左移1位，溢出则与11D异或。</a:t>
            </a:r>
          </a:p>
          <a:p xmlns:a="http://schemas.openxmlformats.org/drawingml/2006/main">
            <a:pPr>
              <a:defRPr sz="157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80左移得100，100⊕11D=1D（十六进制）。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FD1C4-AC5C-4928-B506-8E7E66E3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3  与矩阵求逆的关系</a:t>
            </a:r>
          </a:p>
        </p:txBody>
      </p:sp>
      <p:sp>
        <p:nvSpPr>
          <p:cNvPr id="12" name="matrix_algorithm_layer">
            <a:extLst xmlns:a="http://schemas.openxmlformats.org/drawingml/2006/main">
              <a:ext uri="{FF2B5EF4-FFF2-40B4-BE49-F238E27FC236}">
                <a16:creationId xmlns:a16="http://schemas.microsoft.com/office/drawing/2014/main" id="{BE6B59F0-D988-4D8C-B19B-6BCC890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高斯－约旦消元</a:t>
            </a:r>
          </a:p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主元归一、其他行消元</a:t>
            </a:r>
          </a:p>
        </p:txBody>
      </p:sp>
      <p:sp>
        <p:nvSpPr>
          <p:cNvPr id="13" name="scalar_field_layer">
            <a:extLst xmlns:a="http://schemas.openxmlformats.org/drawingml/2006/main">
              <a:ext uri="{FF2B5EF4-FFF2-40B4-BE49-F238E27FC236}">
                <a16:creationId xmlns:a16="http://schemas.microsoft.com/office/drawing/2014/main" id="{C3F7D402-DD8A-4C15-8480-6EA4B442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29225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主元归一需要除法（乘主元逆元）</a:t>
            </a:r>
          </a:p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其他行消元需要乘法与XOR</a:t>
            </a:r>
          </a:p>
        </p:txBody>
      </p:sp>
      <p:sp>
        <p:nvSpPr>
          <p:cNvPr id="14" name="table_backend_layer">
            <a:extLst xmlns:a="http://schemas.openxmlformats.org/drawingml/2006/main">
              <a:ext uri="{FF2B5EF4-FFF2-40B4-BE49-F238E27FC236}">
                <a16:creationId xmlns:a16="http://schemas.microsoft.com/office/drawing/2014/main" id="{23F6A217-7889-4272-9B28-7E77AE4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43600"/>
            <a:ext cx="525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gf_log / gf_exp 查询</a:t>
            </a:r>
          </a:p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只加速字节运算，矩阵仍逐行求逆</a:t>
            </a:r>
          </a:p>
        </p:txBody>
      </p:sp>
      <p:cxnSp>
        <p:nvCxnSpPr>
          <p:cNvPr id="32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029700" y="50292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029700" y="57435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48030-C356-460D-9283-1F211421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字节值用HEX、指数用DEC。0没有逆元或离散对数，含0乘法直接返回0，不能用于查询gf_log[0]。</a:t>
            </a:r>
          </a:p>
        </p:txBody>
      </p:sp>
    </p:spTree>
    <p:extLst>
      <p:ext uri="{BB962C8B-B14F-4D97-AF65-F5344CB8AC3E}">
        <p14:creationId xmlns:p14="http://schemas.microsoft.com/office/powerpoint/2010/main" val="290979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04302-AE8B-4744-8A60-19002C9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RS 实现：有限域查表运算与矩阵消元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9930A-9757-43EA-AC3A-7E8FCE9A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RS(8,6)／RS(10,8)均支持任意2帧擦除恢复；矩阵采用高斯－约旦消元，域乘法与主元逆元查表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9E97C-D10B-42F6-B2F1-F00181D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A1538-A413-4B24-A6CE-85D446E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有限域中αⁱ·αʲ=αⁱ⁺ʲ，因此先查幂指数并相加，再查幂表取回字节。这里的指数相加是普通整数加法。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B2AA-88B2-423D-8864-7DB3CF0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76425"/>
            <a:ext cx="632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1  延续RS例子：查表完成字节乘法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9A39A-AF8F-4991-A579-F118F96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632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乘法：gf_exp[gf_log[a]+gf_log[b]]（a、b非零）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33400" y="2667000"/>
          <a:ext xmlns:a="http://schemas.openxmlformats.org/drawingml/2006/main" cx="63246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3862"/>
                <a:gridCol w="2108200"/>
                <a:gridCol w="2432538"/>
              </a:tblGrid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乘法HEX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指数相加DEC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幂表结果HEX</a:t>
                      </a:r>
                    </a:p>
                  </a:txBody>
                  <a:tcPr marL="91440" marR="91440" marT="45720" marB="45720" anchor="ctr">
                    <a:solidFill>
                      <a:srgbClr val="E5EDF4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03·1D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25＋8=33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gf_exp[33]=27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02·11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1＋100=101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gf_exp[101]=22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02·1D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1＋8=9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gf_exp[9]=3A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03·11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25＋100=125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38100" rIns="95250" bIns="381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gf_exp[125]=33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F8338-0A13-4969-89D2-8E2E2121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632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a = 27 ⊕ 22 = 05</a:t>
            </a:r>
          </a:p>
          <a:p xmlns:a="http://schemas.openxmlformats.org/drawingml/2006/main">
            <a:pPr>
              <a:def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b = 3A ⊕ 33 = 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069A5-712A-4EF7-B8E4-E9F0C66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632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主元03的逆元：gf_exp[255−gf_log[03]]</a:t>
            </a:r>
          </a:p>
        </p:txBody>
      </p:sp>
      <p:sp>
        <p:nvSpPr>
          <p:cNvPr id="10" name="inverse_log_lookup">
            <a:extLst xmlns:a="http://schemas.openxmlformats.org/drawingml/2006/main">
              <a:ext uri="{FF2B5EF4-FFF2-40B4-BE49-F238E27FC236}">
                <a16:creationId xmlns:a16="http://schemas.microsoft.com/office/drawing/2014/main" id="{08B4B997-1722-46EF-8DA8-BDF9F4B8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查指数反查表</a:t>
            </a:r>
          </a:p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gf_log[03]=25</a:t>
            </a:r>
          </a:p>
        </p:txBody>
      </p:sp>
      <p:sp>
        <p:nvSpPr>
          <p:cNvPr id="11" name="inverse_exponent">
            <a:extLst xmlns:a="http://schemas.openxmlformats.org/drawingml/2006/main">
              <a:ext uri="{FF2B5EF4-FFF2-40B4-BE49-F238E27FC236}">
                <a16:creationId xmlns:a16="http://schemas.microsoft.com/office/drawing/2014/main" id="{EDEB063C-AC7D-4509-9094-4BC0971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95950"/>
            <a:ext cx="1733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逆元指数</a:t>
            </a:r>
          </a:p>
          <a:p xmlns:a="http://schemas.openxmlformats.org/drawingml/2006/main">
            <a:pPr algn="ctr">
              <a:defRPr sz="1725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255−25=230</a:t>
            </a:r>
          </a:p>
        </p:txBody>
      </p:sp>
      <p:sp>
        <p:nvSpPr>
          <p:cNvPr id="12" name="inverse_exp_lookup">
            <a:extLst xmlns:a="http://schemas.openxmlformats.org/drawingml/2006/main">
              <a:ext uri="{FF2B5EF4-FFF2-40B4-BE49-F238E27FC236}">
                <a16:creationId xmlns:a16="http://schemas.microsoft.com/office/drawing/2014/main" id="{86B80FA4-9CF7-492E-BD12-5EEAF9F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95950"/>
            <a:ext cx="2019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查有限域幂表</a:t>
            </a:r>
          </a:p>
          <a:p xmlns:a="http://schemas.openxmlformats.org/drawingml/2006/main">
            <a:pPr algn="ctr">
              <a:def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gf_exp[230]=F4</a:t>
            </a:r>
          </a:p>
        </p:txBody>
      </p: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43150" y="6019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457700" y="6019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B34B0-2BF7-4660-83E4-872F2FA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324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gf_exp[512]＋gf_log[256]共768 B，幂表按255周期扩展。</a:t>
            </a:r>
          </a:p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α²⁵⁵=01，非零逆元指数为255−gf_log[a]，乘法无需热路径取模。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2A553-8D8C-4D76-94BF-3BA4202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76425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2  [A│I] 消元过程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52851-A7F3-42E8-BC95-39667578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二维教学示例，矩阵元素均为十六进制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61634-A66A-4CC8-A38D-CC5B796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7652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① 输入</a:t>
            </a:r>
          </a:p>
          <a:p xmlns:a="http://schemas.openxmlformats.org/drawingml/2006/main">
            <a:pPr>
              <a:defRPr sz="16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[A│I]</a:t>
            </a:r>
          </a:p>
        </p:txBody>
      </p:sp>
      <p:sp>
        <p:nvSpPr>
          <p:cNvPr id="19" name="augmented_input">
            <a:extLst xmlns:a="http://schemas.openxmlformats.org/drawingml/2006/main">
              <a:ext uri="{FF2B5EF4-FFF2-40B4-BE49-F238E27FC236}">
                <a16:creationId xmlns:a16="http://schemas.microsoft.com/office/drawing/2014/main" id="{C427B997-FCAC-4EB6-B1E7-6299E4BF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19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01  01  │  01  00</a:t>
            </a:r>
          </a:p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01  02  │  00  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72EA7-8FA2-49BA-8D8C-A26B919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② 消第一列</a:t>
            </a:r>
          </a:p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R₂ ⊕= R₁</a:t>
            </a:r>
          </a:p>
        </p:txBody>
      </p:sp>
      <p:sp>
        <p:nvSpPr>
          <p:cNvPr id="21" name="eliminate_first">
            <a:extLst xmlns:a="http://schemas.openxmlformats.org/drawingml/2006/main">
              <a:ext uri="{FF2B5EF4-FFF2-40B4-BE49-F238E27FC236}">
                <a16:creationId xmlns:a16="http://schemas.microsoft.com/office/drawing/2014/main" id="{758FAC3F-F9BC-4284-B18E-915E2ECA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052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01  01  │  01  00</a:t>
            </a:r>
          </a:p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00  03  │  01  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1939F-4DFD-476B-BD0D-A3F099C3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142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③ 查表归一</a:t>
            </a:r>
          </a:p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03⁻¹=F4</a:t>
            </a:r>
          </a:p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R₂ ×= F4</a:t>
            </a:r>
          </a:p>
        </p:txBody>
      </p:sp>
      <p:sp>
        <p:nvSpPr>
          <p:cNvPr id="23" name="normalize_pivot">
            <a:extLst xmlns:a="http://schemas.openxmlformats.org/drawingml/2006/main">
              <a:ext uri="{FF2B5EF4-FFF2-40B4-BE49-F238E27FC236}">
                <a16:creationId xmlns:a16="http://schemas.microsoft.com/office/drawing/2014/main" id="{7385A8DB-4394-4F30-BB9A-B19EDF4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910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01  01  │  01  00</a:t>
            </a:r>
          </a:p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00  01  │  F4  F4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F0777-C70C-4E8A-A100-F242BED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340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④ 消第二列</a:t>
            </a:r>
          </a:p>
          <a:p xmlns:a="http://schemas.openxmlformats.org/drawingml/2006/main">
            <a:pPr>
              <a:def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R₁ ⊕= R₂</a:t>
            </a:r>
          </a:p>
        </p:txBody>
      </p:sp>
      <p:sp>
        <p:nvSpPr>
          <p:cNvPr id="25" name="inverse_result">
            <a:extLst xmlns:a="http://schemas.openxmlformats.org/drawingml/2006/main">
              <a:ext uri="{FF2B5EF4-FFF2-40B4-BE49-F238E27FC236}">
                <a16:creationId xmlns:a16="http://schemas.microsoft.com/office/drawing/2014/main" id="{F0C9C647-BA55-4B23-AFA1-90EB6DC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769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637B8F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01  00  │  F5  F4</a:t>
            </a:r>
          </a:p>
          <a:p xmlns:a="http://schemas.openxmlformats.org/drawingml/2006/main">
            <a:pPr algn="ctr">
              <a:def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C50"/>
                </a:solidFill>
                <a:latin typeface="Microsoft YaHei"/>
                <a:ea typeface="Microsoft YaHei"/>
                <a:cs typeface="Microsoft YaHei"/>
              </a:rPr>
              <a:t>00  01  │  F4  F4</a:t>
            </a:r>
          </a:p>
        </p:txBody>
      </p:sp>
      <p:cxnSp>
        <p:nvCxnSpPr>
          <p:cNvPr id="55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229850" y="328612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229850" y="43719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0229850" y="545782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6F85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6615E-32AC-4632-BED5-16F0D9EE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103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左块变成 I，右块即 A⁻¹；GF加减法都是XOR。</a:t>
            </a:r>
          </a:p>
        </p:txBody>
      </p:sp>
    </p:spTree>
    <p:extLst>
      <p:ext uri="{BB962C8B-B14F-4D97-AF65-F5344CB8AC3E}">
        <p14:creationId xmlns:p14="http://schemas.microsoft.com/office/powerpoint/2010/main" val="635664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4D0B9-F628-4903-A29C-AED5DA0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附录：GF(256)固定查找表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DC3BD-0CBE-4CEC-8EAA-0706497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固定参数：约简多项式0x11D，本原元素α=0x02。本页行列索引与表内数值全部使用十六进制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C8ECB-2672-4905-BC71-2FAB29C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B92E8-C7F6-42C0-ACF9-F7E5E366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972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gf_exp[i]：指数 i 对应的有限域字节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87E16-C2AA-4D05-AC3C-D6416FF2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A43"/>
                </a:solidFill>
                <a:latin typeface="Microsoft YaHei"/>
                <a:ea typeface="Microsoft YaHei"/>
                <a:cs typeface="Microsoft YaHei"/>
              </a:rPr>
              <a:t>gf_log[v]：字节 v 对应的幂指数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38350"/>
          <a:ext xmlns:a="http://schemas.openxmlformats.org/drawingml/2006/main" cx="54102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5303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  <a:gridCol w="310931"/>
              </a:tblGrid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56F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0" marR="0" marT="0" marB="0" anchor="ctr">
                    <a:solidFill>
                      <a:srgbClr val="CCE8EA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6400800" y="2038350"/>
          <a:ext xmlns:a="http://schemas.openxmlformats.org/drawingml/2006/main" cx="5257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041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  <a:gridCol w="302172"/>
              </a:tblGrid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--</a:t>
                      </a:r>
                    </a:p>
                  </a:txBody>
                  <a:tcPr marL="0" marR="0" marT="0" marB="0" anchor="ctr">
                    <a:solidFill>
                      <a:srgbClr val="F8ECE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56F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0" marR="0" marT="0" marB="0" anchor="ctr">
                    <a:solidFill>
                      <a:srgbClr val="CCE8EA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56F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</a:t>
                      </a:r>
                    </a:p>
                  </a:txBody>
                  <a:tcPr marL="0" marR="0" marT="0" marB="0" anchor="ctr">
                    <a:solidFill>
                      <a:srgbClr val="CCE8EA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</a:t>
                      </a:r>
                    </a:p>
                  </a:txBody>
                  <a:tcPr marL="0" marR="0" marT="0" marB="0" anchor="ctr">
                    <a:solidFill>
                      <a:srgbClr val="E5EDF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273C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AF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5623F-50C9-45B3-A0F3-0FA6372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56F85"/>
                </a:solidFill>
                <a:latin typeface="Microsoft YaHei"/>
                <a:ea typeface="Microsoft YaHei"/>
                <a:cs typeface="Microsoft YaHei"/>
              </a:rPr>
              <a:t>读法：行20＋列1得到索引21。例：gf_log[03]=19，gf_log[1D]=08，19＋08=21，gf_exp[21]=27。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0B3E7-C92A-4E26-AD8B-A047850B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换算：HEX 19=DEC 25，HEX 21=DEC 33。幂表展示前256项，FF处重复01，实际512项按255周期延伸。</a:t>
            </a:r>
          </a:p>
          <a:p xmlns:a="http://schemas.openxmlformats.org/drawingml/2006/main">
            <a:pPr>
              <a:def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E"/>
                </a:solidFill>
                <a:latin typeface="Microsoft YaHei"/>
                <a:ea typeface="Microsoft YaHei"/>
                <a:cs typeface="Microsoft YaHei"/>
              </a:rPr>
              <a:t>当前实现初始化时构表一次，运行只查表。参数固定可预置常量表。gf_log[00]标为--，表示无定义。</a:t>
            </a:r>
          </a:p>
        </p:txBody>
      </p:sp>
    </p:spTree>
    <p:extLst>
      <p:ext uri="{BB962C8B-B14F-4D97-AF65-F5344CB8AC3E}">
        <p14:creationId xmlns:p14="http://schemas.microsoft.com/office/powerpoint/2010/main" val="323215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2026-10-14T07:52:13.7580000Z</dcterms:created>
  <dcterms:modified xsi:type="dcterms:W3CDTF">2026-10-14T07:52:13.7580000Z</dcterms:modified>
</coreProperties>
</file>